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00" b="1">
                <a:solidFill>
                  <a:srgbClr val="E53E3E"/>
                </a:solidFill>
                <a:latin typeface="Aptos"/>
              </a:rPr>
              <a:t>ATO 1 ·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3891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2400" b="1">
                <a:solidFill>
                  <a:srgbClr val="2D3748"/>
                </a:solidFill>
                <a:latin typeface="Aptos"/>
              </a:rPr>
              <a:t>Arquitetura Legada — Complexidade &amp; Risco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274320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AWS DIY: muitas ferramentas, muitas colas manuais, pouca previsibilidade operacional.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28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176272" cy="431596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176272" cy="566928"/>
          </a:xfrm>
          <a:prstGeom prst="roundRect">
            <a:avLst/>
          </a:prstGeom>
          <a:solidFill>
            <a:srgbClr val="2D3748"/>
          </a:solidFill>
          <a:ln w="1016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45920"/>
            <a:ext cx="228600" cy="228600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36776"/>
            <a:ext cx="1719072" cy="420624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Ingestão &amp;
Validação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267712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04288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Kinesis Streams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715768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52344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Kinesis Firehose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163824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Lambda + Great Expectations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611880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48456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SQS DLQ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4059936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96512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DynamoDB / S3 Quarentena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4507992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44568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CloudWatch + SNS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5010912"/>
            <a:ext cx="1938528" cy="2560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020056"/>
            <a:ext cx="1938528" cy="210312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720" b="1">
                <a:solidFill>
                  <a:srgbClr val="E53E3E"/>
                </a:solidFill>
                <a:latin typeface="Aptos"/>
              </a:rPr>
              <a:t>Sharding manual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5330952"/>
            <a:ext cx="1938528" cy="2560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5340096"/>
            <a:ext cx="1938528" cy="210312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720" b="1">
                <a:solidFill>
                  <a:srgbClr val="E53E3E"/>
                </a:solidFill>
                <a:latin typeface="Aptos"/>
              </a:rPr>
              <a:t>Schema frágil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79191" y="1883664"/>
            <a:ext cx="73153" cy="0"/>
          </a:xfrm>
          <a:prstGeom prst="line">
            <a:avLst/>
          </a:prstGeom>
          <a:ln w="17780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752344" y="1554480"/>
            <a:ext cx="2176272" cy="431596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52344" y="1554480"/>
            <a:ext cx="2176272" cy="566928"/>
          </a:xfrm>
          <a:prstGeom prst="roundRect">
            <a:avLst/>
          </a:prstGeom>
          <a:solidFill>
            <a:srgbClr val="2D3748"/>
          </a:solidFill>
          <a:ln w="1016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62072" y="1645920"/>
            <a:ext cx="228600" cy="228600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18103" y="1636776"/>
            <a:ext cx="1719072" cy="420624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Processamento,
Limpeza &amp; DW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71215" y="2267712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35224" y="2304288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S3 Bronze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71215" y="2715768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35224" y="2752344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Glue Jobs / PySpark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71215" y="3163824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35224" y="3200400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S3 Silver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71215" y="3611880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35224" y="3648456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Redshift Cluster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71215" y="4059936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35224" y="4096512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S3 Gold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871215" y="4562856"/>
            <a:ext cx="1938528" cy="2560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71215" y="4572000"/>
            <a:ext cx="1938528" cy="210312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720" b="1">
                <a:solidFill>
                  <a:srgbClr val="E53E3E"/>
                </a:solidFill>
                <a:latin typeface="Aptos"/>
              </a:rPr>
              <a:t>Cold start 1–4 min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71215" y="4882896"/>
            <a:ext cx="1938528" cy="2560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71215" y="4892040"/>
            <a:ext cx="1938528" cy="210312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720" b="1">
                <a:solidFill>
                  <a:srgbClr val="E53E3E"/>
                </a:solidFill>
                <a:latin typeface="Aptos"/>
              </a:rPr>
              <a:t>DPUs ociosos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928616" y="1883664"/>
            <a:ext cx="73152" cy="0"/>
          </a:xfrm>
          <a:prstGeom prst="line">
            <a:avLst/>
          </a:prstGeom>
          <a:ln w="17780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001768" y="1554480"/>
            <a:ext cx="2176272" cy="431596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01768" y="1554480"/>
            <a:ext cx="2176272" cy="566928"/>
          </a:xfrm>
          <a:prstGeom prst="roundRect">
            <a:avLst/>
          </a:prstGeom>
          <a:solidFill>
            <a:srgbClr val="2D3748"/>
          </a:solidFill>
          <a:ln w="1016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11496" y="1645920"/>
            <a:ext cx="228600" cy="228600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67528" y="1636776"/>
            <a:ext cx="1719072" cy="420624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Orquestração &amp;
Infra / DevOps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20640" y="2267712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84648" y="2304288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MWAA / Airflow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20640" y="2715768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84648" y="2752344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ElastiCache Redis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120640" y="3163824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84648" y="3200400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Docker + ECR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120640" y="3611880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84648" y="3648456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Terraform / CloudFormation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120640" y="4059936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84648" y="4096512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GitHub Actions / GitLab CI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20640" y="4507992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84648" y="4544568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Secrets Manager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120640" y="5010912"/>
            <a:ext cx="1938528" cy="2560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0" y="5020056"/>
            <a:ext cx="1938528" cy="210312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720" b="1">
                <a:solidFill>
                  <a:srgbClr val="E53E3E"/>
                </a:solidFill>
                <a:latin typeface="Aptos"/>
              </a:rPr>
              <a:t>Downtime no pico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120640" y="5330952"/>
            <a:ext cx="1938528" cy="2560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20640" y="5340096"/>
            <a:ext cx="1938528" cy="210312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720" b="1">
                <a:solidFill>
                  <a:srgbClr val="E53E3E"/>
                </a:solidFill>
                <a:latin typeface="Aptos"/>
              </a:rPr>
              <a:t>+1 Platform Engineer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178040" y="1883664"/>
            <a:ext cx="73152" cy="0"/>
          </a:xfrm>
          <a:prstGeom prst="line">
            <a:avLst/>
          </a:prstGeom>
          <a:ln w="17780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7251192" y="1554480"/>
            <a:ext cx="2176272" cy="431596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251192" y="1554480"/>
            <a:ext cx="2176272" cy="566928"/>
          </a:xfrm>
          <a:prstGeom prst="roundRect">
            <a:avLst/>
          </a:prstGeom>
          <a:solidFill>
            <a:srgbClr val="2D3748"/>
          </a:solidFill>
          <a:ln w="1016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60919" y="1645920"/>
            <a:ext cx="228600" cy="228600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16952" y="1636776"/>
            <a:ext cx="1719072" cy="420624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Catálogo,
Metadados &amp; LGPD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70064" y="2267712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34071" y="2304288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Glue Crawlers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370064" y="2715768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34071" y="2752344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Lake Formation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370064" y="3163824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434071" y="3200400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IAM Policies JSON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70064" y="3611880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34071" y="3648456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DataHub / OpenMetadata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70064" y="4114800"/>
            <a:ext cx="1938528" cy="2560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370064" y="4123944"/>
            <a:ext cx="1938528" cy="210312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720" b="1">
                <a:solidFill>
                  <a:srgbClr val="E53E3E"/>
                </a:solidFill>
                <a:latin typeface="Aptos"/>
              </a:rPr>
              <a:t>IAM complexo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370064" y="4434840"/>
            <a:ext cx="1938528" cy="2560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70064" y="4443983"/>
            <a:ext cx="1938528" cy="210312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720" b="1">
                <a:solidFill>
                  <a:srgbClr val="E53E3E"/>
                </a:solidFill>
                <a:latin typeface="Aptos"/>
              </a:rPr>
              <a:t>Risco LGPD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427463" y="1883664"/>
            <a:ext cx="73152" cy="0"/>
          </a:xfrm>
          <a:prstGeom prst="line">
            <a:avLst/>
          </a:prstGeom>
          <a:ln w="17780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9500616" y="1554480"/>
            <a:ext cx="2176272" cy="431596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500616" y="1554480"/>
            <a:ext cx="2176272" cy="566928"/>
          </a:xfrm>
          <a:prstGeom prst="roundRect">
            <a:avLst/>
          </a:prstGeom>
          <a:solidFill>
            <a:srgbClr val="2D3748"/>
          </a:solidFill>
          <a:ln w="1016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10344" y="1645920"/>
            <a:ext cx="228600" cy="228600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66376" y="1636776"/>
            <a:ext cx="1719072" cy="420624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Consumo,
Analytics &amp; Alertas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619488" y="2267712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683496" y="2304288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PowerBI / Tableau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619488" y="2715768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683496" y="2752344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Datadog / Grafana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619488" y="3163824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683496" y="3200400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EventBridge + SNS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619488" y="3611880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83496" y="3648456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Custom Lambda / Python APIs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619488" y="4114800"/>
            <a:ext cx="1938528" cy="2560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619488" y="4123944"/>
            <a:ext cx="1938528" cy="210312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720" b="1">
                <a:solidFill>
                  <a:srgbClr val="E53E3E"/>
                </a:solidFill>
                <a:latin typeface="Aptos"/>
              </a:rPr>
              <a:t>3–6 semanas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619488" y="4434840"/>
            <a:ext cx="1938528" cy="2560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619488" y="4443983"/>
            <a:ext cx="1938528" cy="210312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720" b="1">
                <a:solidFill>
                  <a:srgbClr val="E53E3E"/>
                </a:solidFill>
                <a:latin typeface="Aptos"/>
              </a:rPr>
              <a:t>Foco em manutenção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02920" y="6016752"/>
            <a:ext cx="11183112" cy="41148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58368" y="6099048"/>
            <a:ext cx="777240" cy="16459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00" b="1">
                <a:solidFill>
                  <a:srgbClr val="E53E3E"/>
                </a:solidFill>
                <a:latin typeface="Aptos"/>
              </a:rPr>
              <a:t>GARGALO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417320" y="6080760"/>
            <a:ext cx="9966960" cy="201168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40" b="1">
                <a:solidFill>
                  <a:srgbClr val="2D3748"/>
                </a:solidFill>
                <a:latin typeface="Aptos"/>
              </a:rPr>
              <a:t>Lead time: 3–6 semanas   ·   Sustentação: 1 Platform Engineer + 1–2 Data Engineers   ·   Impacto: engenharia presa em servidores e pipelines quebrados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r"/>
            <a:r>
              <a:rPr sz="700" b="1">
                <a:solidFill>
                  <a:srgbClr val="E53E3E"/>
                </a:solidFill>
                <a:latin typeface="Aptos"/>
              </a:rPr>
              <a:t>01 /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28600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Aptos"/>
              </a:rPr>
              <a:t>ATO 1 · VIRADA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3891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2400" b="1">
                <a:solidFill>
                  <a:srgbClr val="2D3748"/>
                </a:solidFill>
                <a:latin typeface="Aptos"/>
              </a:rPr>
              <a:t>Arquitetura Proposta — Plataforma Dadosfera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274320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Aptos"/>
              </a:rPr>
              <a:t>Um Sistema Operacional de Dados: absorve as camadas e devolve velocidade, governança e foco no negócio.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228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26464"/>
            <a:ext cx="11183112" cy="292608"/>
          </a:xfrm>
          <a:prstGeom prst="roundRect">
            <a:avLst/>
          </a:prstGeom>
          <a:solidFill>
            <a:srgbClr val="1E3A8A"/>
          </a:solidFill>
          <a:ln w="101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789920" cy="201168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PLATAFORMA DADOSFERA  ·  SaaS ALL-IN-ONE / SNOWFLAKE LAKEHOUSE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2176272" cy="431596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2176272" cy="566928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645920"/>
            <a:ext cx="228600" cy="228600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36776"/>
            <a:ext cx="1719072" cy="420624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Ingestão &amp;
Qualidade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267712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04288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API Maestro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715768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52344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Great Expectations nativo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163824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00400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Quarentena automática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611880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48456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Schema validation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79191" y="1883664"/>
            <a:ext cx="73153" cy="0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52344" y="1554480"/>
            <a:ext cx="2176272" cy="431596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52344" y="1554480"/>
            <a:ext cx="2176272" cy="566928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62072" y="1645920"/>
            <a:ext cx="228600" cy="228600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18103" y="1636776"/>
            <a:ext cx="1719072" cy="420624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Processamento
&amp; DW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71215" y="2267712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35224" y="2304288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Snowflake DW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71215" y="2715768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35224" y="2752344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Star Schema Kimball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71215" y="3163824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35224" y="3200400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Silver conformada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71215" y="3611880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35224" y="3648456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Visões Gold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928616" y="1883664"/>
            <a:ext cx="73152" cy="0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001768" y="1554480"/>
            <a:ext cx="2176272" cy="431596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01768" y="1554480"/>
            <a:ext cx="2176272" cy="566928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11496" y="1645920"/>
            <a:ext cx="228600" cy="228600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67528" y="1636776"/>
            <a:ext cx="1719072" cy="420624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Orquestração &amp;
Infraestrutura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0" y="2267712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84648" y="2304288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SaaS gerenciado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40" y="2715768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84648" y="2752344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Sem servidores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3163824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84648" y="3200400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Sem sharding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20640" y="3611880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84648" y="3648456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Elasticidade em picos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178040" y="1883664"/>
            <a:ext cx="73152" cy="0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251192" y="1554480"/>
            <a:ext cx="2176272" cy="431596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251192" y="1554480"/>
            <a:ext cx="2176272" cy="566928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60919" y="1645920"/>
            <a:ext cx="228600" cy="228600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6952" y="1636776"/>
            <a:ext cx="1719072" cy="420624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Catálogo, Metadados
&amp; Governança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70064" y="2267712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34071" y="2304288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Catálogo nativo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70064" y="2715768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34071" y="2752344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Data Asset IDs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70064" y="3163824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34071" y="3200400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RBAC + LGPD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70064" y="3611880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34071" y="3648456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Rastreabilidade ponta a ponta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427463" y="1883664"/>
            <a:ext cx="73152" cy="0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500616" y="1554480"/>
            <a:ext cx="2176272" cy="431596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500616" y="1554480"/>
            <a:ext cx="2176272" cy="566928"/>
          </a:xfrm>
          <a:prstGeom prst="round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10344" y="1645920"/>
            <a:ext cx="228600" cy="228600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66376" y="1636776"/>
            <a:ext cx="1719072" cy="420624"/>
          </a:xfrm>
          <a:prstGeom prst="rect">
            <a:avLst/>
          </a:prstGeom>
          <a:noFill/>
        </p:spPr>
        <p:txBody>
          <a:bodyPr wrap="square" lIns="64008" rIns="64008" tIns="27432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Consumo, Analytics
&amp; GenAI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19488" y="2267712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83496" y="2304288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Metabase integrado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19488" y="2715768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83496" y="2752344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Streamlit Data Apps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619488" y="3163824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83496" y="3200400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GenAI contextual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619488" y="3611880"/>
            <a:ext cx="1938528" cy="3840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83496" y="3648456"/>
            <a:ext cx="1810512" cy="30175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19" b="1">
                <a:solidFill>
                  <a:srgbClr val="2D3748"/>
                </a:solidFill>
                <a:latin typeface="Aptos"/>
              </a:rPr>
              <a:t>Alertas self-service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02920" y="6016752"/>
            <a:ext cx="11183112" cy="41148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" y="6099048"/>
            <a:ext cx="777240" cy="16459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00" b="1">
                <a:solidFill>
                  <a:srgbClr val="059669"/>
                </a:solidFill>
                <a:latin typeface="Aptos"/>
              </a:rPr>
              <a:t>GANHOS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17320" y="6080760"/>
            <a:ext cx="9966960" cy="201168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l"/>
            <a:r>
              <a:rPr sz="840" b="1">
                <a:solidFill>
                  <a:srgbClr val="2D3748"/>
                </a:solidFill>
                <a:latin typeface="Aptos"/>
              </a:rPr>
              <a:t>Lead time: &lt; 3 dias (-86%)   ·   Zero risco de sharding / downtime em picos   ·   Equipe focada em receita e ROI   ·   SaaS previsível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6547104"/>
            <a:ext cx="11155680" cy="164592"/>
          </a:xfrm>
          <a:prstGeom prst="rect">
            <a:avLst/>
          </a:prstGeom>
          <a:noFill/>
        </p:spPr>
        <p:txBody>
          <a:bodyPr wrap="square" lIns="64008" rIns="64008" tIns="27432" anchor="t">
            <a:spAutoFit/>
          </a:bodyPr>
          <a:lstStyle/>
          <a:p>
            <a:pPr algn="r"/>
            <a:r>
              <a:rPr sz="700" b="1">
                <a:solidFill>
                  <a:srgbClr val="2563EB"/>
                </a:solidFill>
                <a:latin typeface="Aptos"/>
              </a:rPr>
              <a:t>02 /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